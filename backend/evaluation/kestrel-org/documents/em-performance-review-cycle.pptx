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Performance Review FY 2026-27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1645920"/>
            <a:ext cx="10698480" cy="4572000"/>
          </a:xfrm>
        </p:spPr>
        <p:txBody>
          <a:bodyPr/>
          <a:lstStyle/>
          <a:p>
            <a:r>
              <a:rPr sz="2400"/>
              <a:t>Briefing for Engineering Managers</a:t>
            </a:r>
          </a:p>
          <a:p>
            <a:r>
              <a:rPr sz="2400"/>
              <a:t>Owner: HR Manager · Shared with Engineering Managers only</a:t>
            </a:r>
          </a:p>
          <a:p>
            <a:r>
              <a:rPr sz="2400"/>
              <a:t>Covers the review timeline, rating scale, promotions and calibration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572000"/>
          </a:xfrm>
        </p:spPr>
        <p:txBody>
          <a:bodyPr/>
          <a:lstStyle/>
          <a:p>
            <a:r>
              <a:rPr sz="2200"/>
              <a:t>Mid-year check-in conversations: 1 to 15 October 2026 (no ratings)</a:t>
            </a:r>
          </a:p>
          <a:p>
            <a:r>
              <a:rPr sz="2200"/>
              <a:t>Self-reviews open: 1 to 10 April 2027</a:t>
            </a:r>
          </a:p>
          <a:p>
            <a:r>
              <a:rPr sz="2200"/>
              <a:t>Manager reviews due: 20 April 2027</a:t>
            </a:r>
          </a:p>
          <a:p>
            <a:r>
              <a:rPr sz="2200"/>
              <a:t>Calibration meeting: 21 to 28 April 2027</a:t>
            </a:r>
          </a:p>
          <a:p>
            <a:r>
              <a:rPr sz="2200"/>
              <a:t>Ratings shared with employees in 1:1s: by 5 May 2027</a:t>
            </a:r>
          </a:p>
          <a:p>
            <a:r>
              <a:rPr sz="2200"/>
              <a:t>Increment and promotion letters: 15 May 2027 (effective from 1 April)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572000"/>
          </a:xfrm>
        </p:spPr>
        <p:txBody>
          <a:bodyPr/>
          <a:lstStyle/>
          <a:p>
            <a:r>
              <a:rPr sz="2200"/>
              <a:t>5 Outstanding: far above the level, a model for others</a:t>
            </a:r>
          </a:p>
          <a:p>
            <a:r>
              <a:rPr sz="2200"/>
              <a:t>4 Exceeds: consistently above what the level expects</a:t>
            </a:r>
          </a:p>
          <a:p>
            <a:r>
              <a:rPr sz="2200"/>
              <a:t>3 Meets: fully does the job at their level (most people)</a:t>
            </a:r>
          </a:p>
          <a:p>
            <a:r>
              <a:rPr sz="2200"/>
              <a:t>2 Partly meets: some expectations missed; needs a written plan</a:t>
            </a:r>
          </a:p>
          <a:p>
            <a:r>
              <a:rPr sz="2200"/>
              <a:t>1 Below: clearly below the level; discuss a PIP with the HR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572000"/>
          </a:xfrm>
        </p:spPr>
        <p:txBody>
          <a:bodyPr/>
          <a:lstStyle/>
          <a:p>
            <a:r>
              <a:rPr sz="2200"/>
              <a:t>No more than 20% of a team may be rated 5</a:t>
            </a:r>
          </a:p>
          <a:p>
            <a:r>
              <a:rPr sz="2200"/>
              <a:t>Ratings of 1 or 2 need written evidence from your 1:1 notes</a:t>
            </a:r>
          </a:p>
          <a:p>
            <a:r>
              <a:rPr sz="2200"/>
              <a:t>Someone who joined after 1 October is not rated this cycle</a:t>
            </a:r>
          </a:p>
          <a:p>
            <a:r>
              <a:rPr sz="2200"/>
              <a:t>People on a PIP are rated after the PIP 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Promotions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572000"/>
          </a:xfrm>
        </p:spPr>
        <p:txBody>
          <a:bodyPr/>
          <a:lstStyle/>
          <a:p>
            <a:r>
              <a:rPr sz="2200"/>
              <a:t>Eligible: rated 4 or 5 in two annual reviews in a row</a:t>
            </a:r>
          </a:p>
          <a:p>
            <a:r>
              <a:rPr sz="2200"/>
              <a:t>You nominate in the HR portal by 20 April with a one-page case</a:t>
            </a:r>
          </a:p>
          <a:p>
            <a:r>
              <a:rPr sz="2200"/>
              <a:t>E3 to E4 also needs a design document the person led</a:t>
            </a:r>
          </a:p>
          <a:p>
            <a:r>
              <a:rPr sz="2200"/>
              <a:t>Promotions are capped at 15% of a team in one cycle</a:t>
            </a:r>
          </a:p>
          <a:p>
            <a:r>
              <a:rPr sz="2200"/>
              <a:t>Final decision is made in calibration, not by the manager alone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572000"/>
          </a:xfrm>
        </p:spPr>
        <p:txBody>
          <a:bodyPr/>
          <a:lstStyle/>
          <a:p>
            <a:r>
              <a:rPr sz="2200"/>
              <a:t>Attended by both Admins, all Engineering Managers and the HR Manager</a:t>
            </a:r>
          </a:p>
          <a:p>
            <a:r>
              <a:rPr sz="2200"/>
              <a:t>Bring: proposed rating, 3 examples of impact, and 1:1 notes for any 1 or 2</a:t>
            </a:r>
          </a:p>
          <a:p>
            <a:r>
              <a:rPr sz="2200"/>
              <a:t>Ratings can move up or down in calibration; you explain the final rating to your report</a:t>
            </a:r>
          </a:p>
          <a:p>
            <a:r>
              <a:rPr sz="2200"/>
              <a:t>Never tell someone their rating before calibration is finished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managers don't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572000"/>
          </a:xfrm>
        </p:spPr>
        <p:txBody>
          <a:bodyPr/>
          <a:lstStyle/>
          <a:p>
            <a:r>
              <a:rPr sz="2200"/>
              <a:t>Increment percentages and salary bands are set by the HR Manager</a:t>
            </a:r>
          </a:p>
          <a:p>
            <a:r>
              <a:rPr sz="2200"/>
              <a:t>Do not promise any raise, percentage or bonus amount to your reports</a:t>
            </a:r>
          </a:p>
          <a:p>
            <a:r>
              <a:rPr sz="2200"/>
              <a:t>Questions about a person's pay go to the HR Manager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 and new joiners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698480" cy="4572000"/>
          </a:xfrm>
        </p:spPr>
        <p:txBody>
          <a:bodyPr/>
          <a:lstStyle/>
          <a:p>
            <a:r>
              <a:rPr sz="2200"/>
              <a:t>Interns are not part of this cycle; they follow the Intern Program Guide evaluations</a:t>
            </a:r>
          </a:p>
          <a:p>
            <a:r>
              <a:rPr sz="2200"/>
              <a:t>People still on probation get a probation review instead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